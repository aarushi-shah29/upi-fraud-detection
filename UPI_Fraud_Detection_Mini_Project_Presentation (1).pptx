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816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 rot="1080000">
            <a:off x="9464040" y="-685800"/>
            <a:ext cx="3840480" cy="3840480"/>
          </a:xfrm>
          <a:prstGeom prst="arc">
            <a:avLst/>
          </a:prstGeom>
          <a:noFill/>
          <a:ln w="44450">
            <a:solidFill>
              <a:srgbClr val="D59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617220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A45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746C67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0292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59DA4"/>
                </a:solidFill>
                <a:latin typeface="Aptos"/>
              </a:rPr>
              <a:t>MINI PROJECT  /  AI &amp;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685800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4800" b="1" i="0">
                <a:solidFill>
                  <a:srgbClr val="FAF7F0"/>
                </a:solidFill>
                <a:latin typeface="Aptos Display"/>
              </a:rPr>
              <a:t>UPI Fraud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804672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4800" b="1" i="0">
                <a:solidFill>
                  <a:srgbClr val="FAF7F0"/>
                </a:solidFill>
                <a:latin typeface="Aptos Display"/>
              </a:rPr>
              <a:t>Detection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65836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AE968F"/>
                </a:solidFill>
                <a:latin typeface="Aptos"/>
              </a:rPr>
              <a:t>Machine Learning-Based Transaction Risk Analysis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657600"/>
            <a:ext cx="5486400" cy="0"/>
          </a:xfrm>
          <a:prstGeom prst="line">
            <a:avLst/>
          </a:prstGeom>
          <a:ln w="1905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913632"/>
            <a:ext cx="5760720" cy="14373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IN" sz="1300" dirty="0">
                <a:solidFill>
                  <a:srgbClr val="FAF7F0"/>
                </a:solidFill>
                <a:latin typeface="Aptos"/>
              </a:rPr>
              <a:t>Priya Sahani – 40</a:t>
            </a:r>
          </a:p>
          <a:p>
            <a:pPr algn="l"/>
            <a:r>
              <a:rPr lang="en-IN" sz="1300" b="0" i="0" dirty="0">
                <a:solidFill>
                  <a:srgbClr val="FAF7F0"/>
                </a:solidFill>
                <a:latin typeface="Aptos"/>
              </a:rPr>
              <a:t>Aarushi Shah – 44</a:t>
            </a:r>
          </a:p>
          <a:p>
            <a:pPr algn="l"/>
            <a:r>
              <a:rPr lang="en-IN" sz="1300" dirty="0">
                <a:solidFill>
                  <a:srgbClr val="FAF7F0"/>
                </a:solidFill>
                <a:latin typeface="Aptos"/>
              </a:rPr>
              <a:t>Amaan Shaikh – 48</a:t>
            </a:r>
          </a:p>
          <a:p>
            <a:pPr algn="l"/>
            <a:r>
              <a:rPr sz="1300" b="0" i="0" dirty="0">
                <a:solidFill>
                  <a:srgbClr val="FAF7F0"/>
                </a:solidFill>
                <a:latin typeface="Aptos"/>
              </a:rPr>
              <a:t>
Department: Artificial Intelligence &amp; Machine Learning
College: Thakur College of Engineering &amp; Technology (TCET)
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199632"/>
            <a:ext cx="9875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AE968F"/>
                </a:solidFill>
                <a:latin typeface="Aptos"/>
              </a:rPr>
              <a:t>A practical ML system that turns transaction signals into an interpretable fraud-risk decision.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AF22A56-BDE6-AC2E-A857-D0F1D0B5A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932" y="1387800"/>
            <a:ext cx="4097312" cy="35007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 rot="1200000">
            <a:off x="9601200" y="-502920"/>
            <a:ext cx="3017520" cy="3017520"/>
          </a:xfrm>
          <a:prstGeom prst="arc">
            <a:avLst/>
          </a:prstGeom>
          <a:noFill/>
          <a:ln w="31750">
            <a:solidFill>
              <a:srgbClr val="11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320040" y="635508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D59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0140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7572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5004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746C67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8912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45B46"/>
                </a:solidFill>
                <a:latin typeface="Aptos"/>
              </a:rPr>
              <a:t>01 /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86384"/>
            <a:ext cx="102412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2B2928"/>
                </a:solidFill>
                <a:latin typeface="Aptos Display"/>
              </a:rPr>
              <a:t>What is UPI Fraud Detection?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26464"/>
            <a:ext cx="97840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The project sits between digital payments, data analysis and practical machine learning.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502920"/>
            <a:ext cx="5486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2200" b="1" i="0">
                <a:solidFill>
                  <a:srgbClr val="111010"/>
                </a:solidFill>
                <a:latin typeface="Aptos Display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057400"/>
            <a:ext cx="3749039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111010"/>
                </a:solidFill>
                <a:latin typeface="Aptos Display"/>
              </a:rPr>
              <a:t>“Fast payments need
fast decisions.”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56432"/>
            <a:ext cx="388620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746C67"/>
                </a:solidFill>
                <a:latin typeface="Aptos"/>
              </a:rPr>
              <a:t>UPI makes payments immediate. That same speed makes it important to identify unusual transaction behaviour quickly.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0" y="1874519"/>
            <a:ext cx="5394960" cy="0"/>
          </a:xfrm>
          <a:prstGeom prst="line">
            <a:avLst/>
          </a:prstGeom>
          <a:ln w="12700">
            <a:solidFill>
              <a:srgbClr val="11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32120" y="2029968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A45B46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002536"/>
            <a:ext cx="24231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11010"/>
                </a:solidFill>
                <a:latin typeface="Aptos"/>
              </a:rPr>
              <a:t>DIGITAL 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02536"/>
            <a:ext cx="25603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B2928"/>
                </a:solidFill>
                <a:latin typeface="Aptos"/>
              </a:rPr>
              <a:t>A transaction is initiated through UPI.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962656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A45B46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935224"/>
            <a:ext cx="24231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11010"/>
                </a:solidFill>
                <a:latin typeface="Aptos"/>
              </a:rPr>
              <a:t>RISK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935224"/>
            <a:ext cx="25603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B2928"/>
                </a:solidFill>
                <a:latin typeface="Aptos"/>
              </a:rPr>
              <a:t>Amount, user/device and transaction attributes create a behavioural profile.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895344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A45B46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867911"/>
            <a:ext cx="24231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11010"/>
                </a:solidFill>
                <a:latin typeface="Aptos"/>
              </a:rPr>
              <a:t>ML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867911"/>
            <a:ext cx="25603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B2928"/>
                </a:solidFill>
                <a:latin typeface="Aptos"/>
              </a:rPr>
              <a:t>The trained Random Forest estimates the likelihood of fraud.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828031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A45B46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800599"/>
            <a:ext cx="24231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11010"/>
                </a:solidFill>
                <a:latin typeface="Aptos"/>
              </a:rPr>
              <a:t>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800599"/>
            <a:ext cx="25603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B2928"/>
                </a:solidFill>
                <a:latin typeface="Aptos"/>
              </a:rPr>
              <a:t>The interface converts that probability into a risk level and recommendation.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199632"/>
            <a:ext cx="9875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46C67"/>
                </a:solidFill>
                <a:latin typeface="Aptos"/>
              </a:rPr>
              <a:t>Core idea: automate the first layer of transaction-risk screening instead of relying only on manual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 rot="1200000">
            <a:off x="9601200" y="-502920"/>
            <a:ext cx="3017520" cy="3017520"/>
          </a:xfrm>
          <a:prstGeom prst="arc">
            <a:avLst/>
          </a:prstGeom>
          <a:noFill/>
          <a:ln w="31750">
            <a:solidFill>
              <a:srgbClr val="11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320040" y="635508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D59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0140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7572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5004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746C67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8912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45B46"/>
                </a:solidFill>
                <a:latin typeface="Aptos"/>
              </a:rPr>
              <a:t>02 / THE 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86384"/>
            <a:ext cx="102412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2B2928"/>
                </a:solidFill>
                <a:latin typeface="Aptos Display"/>
              </a:rPr>
              <a:t>Problem Statement →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502920"/>
            <a:ext cx="5486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2200" b="1" i="0">
                <a:solidFill>
                  <a:srgbClr val="111010"/>
                </a:solidFill>
                <a:latin typeface="Aptos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74519"/>
            <a:ext cx="2011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45B46"/>
                </a:solidFill>
                <a:latin typeface="Apto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4663440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010"/>
                </a:solidFill>
                <a:latin typeface="Aptos Display"/>
              </a:rPr>
              <a:t>More digital transactions
= more data to verify.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520440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B2928"/>
                </a:solidFill>
                <a:latin typeface="Aptos"/>
              </a:defRPr>
            </a:pPr>
            <a:r>
              <a:t>•  Manual verification becomes slow at high transaction volumes.</a:t>
            </a:r>
          </a:p>
          <a:p>
            <a:pPr>
              <a:spcAft>
                <a:spcPts val="700"/>
              </a:spcAft>
              <a:defRPr sz="1500">
                <a:solidFill>
                  <a:srgbClr val="2B2928"/>
                </a:solidFill>
                <a:latin typeface="Aptos"/>
              </a:defRPr>
            </a:pPr>
            <a:r>
              <a:t>•  Fraud patterns can be difficult to identify consistently.</a:t>
            </a:r>
          </a:p>
          <a:p>
            <a:pPr>
              <a:spcAft>
                <a:spcPts val="700"/>
              </a:spcAft>
              <a:defRPr sz="1500">
                <a:solidFill>
                  <a:srgbClr val="2B2928"/>
                </a:solidFill>
                <a:latin typeface="Aptos"/>
              </a:defRPr>
            </a:pPr>
            <a:r>
              <a:t>•  A decision-support layer is needed before potential financial loss.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1828800"/>
            <a:ext cx="0" cy="4069080"/>
          </a:xfrm>
          <a:prstGeom prst="line">
            <a:avLst/>
          </a:prstGeom>
          <a:ln w="12700">
            <a:solidFill>
              <a:srgbClr val="AE9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46520" y="1874519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45B46"/>
                </a:solidFill>
                <a:latin typeface="Aptos"/>
              </a:rPr>
              <a:t>THE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6771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11010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249424"/>
            <a:ext cx="1143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11010"/>
                </a:solidFill>
                <a:latin typeface="Aptos"/>
              </a:rPr>
              <a:t>Detect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063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Identify potentially fraudulent UPI transactions.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72384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11010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054096"/>
            <a:ext cx="1143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11010"/>
                </a:solidFill>
                <a:latin typeface="Aptos"/>
              </a:rPr>
              <a:t>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044952"/>
            <a:ext cx="3063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Convert model probability into a Fraud Risk Score.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877056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11010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858768"/>
            <a:ext cx="1143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11010"/>
                </a:solidFill>
                <a:latin typeface="Aptos"/>
              </a:rPr>
              <a:t>Classify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849624"/>
            <a:ext cx="3063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Group transactions into Low, Medium and High Risk.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681728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11010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663440"/>
            <a:ext cx="1143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11010"/>
                </a:solidFill>
                <a:latin typeface="Aptos"/>
              </a:rPr>
              <a:t>Recommend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654296"/>
            <a:ext cx="3063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Give a practical next-step recommendation to the user.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6199632"/>
            <a:ext cx="9875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46C67"/>
                </a:solidFill>
                <a:latin typeface="Aptos"/>
              </a:rPr>
              <a:t>The project is designed as a screening and decision-support system, not as a replacement for a bank’s full fraud investigation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 rot="1200000">
            <a:off x="9601200" y="-502920"/>
            <a:ext cx="3017520" cy="3017520"/>
          </a:xfrm>
          <a:prstGeom prst="arc">
            <a:avLst/>
          </a:prstGeom>
          <a:noFill/>
          <a:ln w="31750">
            <a:solidFill>
              <a:srgbClr val="11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320040" y="635508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D59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0140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7572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5004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746C67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8912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45B46"/>
                </a:solidFill>
                <a:latin typeface="Aptos"/>
              </a:rPr>
              <a:t>03 /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86384"/>
            <a:ext cx="102412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2B2928"/>
                </a:solidFill>
                <a:latin typeface="Aptos Display"/>
              </a:rPr>
              <a:t>Dataset &amp; Data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26464"/>
            <a:ext cx="97840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UPI Fraud Detection Dataset — the raw material behind the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502920"/>
            <a:ext cx="5486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2200" b="1" i="0">
                <a:solidFill>
                  <a:srgbClr val="111010"/>
                </a:solidFill>
                <a:latin typeface="Aptos Display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74519"/>
            <a:ext cx="20116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010"/>
                </a:solidFill>
                <a:latin typeface="Aptos Display"/>
              </a:rPr>
              <a:t>26,393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963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A45B46"/>
                </a:solidFill>
                <a:latin typeface="Aptos"/>
              </a:rPr>
              <a:t>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874519"/>
            <a:ext cx="20116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010"/>
                </a:solidFill>
                <a:latin typeface="Aptos Display"/>
              </a:rPr>
              <a:t>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4963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A45B46"/>
                </a:solidFill>
                <a:latin typeface="Aptos"/>
              </a:rPr>
              <a:t>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874519"/>
            <a:ext cx="20116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010"/>
                </a:solidFill>
                <a:latin typeface="Aptos Display"/>
              </a:rPr>
              <a:t>4,545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4963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A45B46"/>
                </a:solidFill>
                <a:latin typeface="Aptos"/>
              </a:rPr>
              <a:t>FRAUDULENT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1874519"/>
            <a:ext cx="20116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010"/>
                </a:solidFill>
                <a:latin typeface="Aptos Display"/>
              </a:rPr>
              <a:t>21,848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4963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A45B46"/>
                </a:solidFill>
                <a:latin typeface="Aptos"/>
              </a:rPr>
              <a:t>GENUINE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9808" y="2971800"/>
            <a:ext cx="10314432" cy="0"/>
          </a:xfrm>
          <a:prstGeom prst="line">
            <a:avLst/>
          </a:prstGeom>
          <a:ln w="13970">
            <a:solidFill>
              <a:srgbClr val="11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9808" y="3310128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45B46"/>
                </a:solidFill>
                <a:latin typeface="Aptos"/>
              </a:rPr>
              <a:t>WHAT THE DATA CAPTURES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703320"/>
            <a:ext cx="1554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11010"/>
                </a:solidFill>
                <a:latin typeface="Aptos"/>
              </a:rPr>
              <a:t>TRANSACTION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685032"/>
            <a:ext cx="42976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Amount, type, timing and transaction attributes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270248"/>
            <a:ext cx="1554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11010"/>
                </a:solidFill>
                <a:latin typeface="Aptos"/>
              </a:rPr>
              <a:t>USER / 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251960"/>
            <a:ext cx="42976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Behavioural and device-related information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837176"/>
            <a:ext cx="1554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11010"/>
                </a:solidFill>
                <a:latin typeface="Aptos"/>
              </a:rPr>
              <a:t>UPI / MERCHANT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818888"/>
            <a:ext cx="42976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Merchant and payment-context information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404104"/>
            <a:ext cx="1554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11010"/>
                </a:solidFill>
                <a:latin typeface="Aptos"/>
              </a:rPr>
              <a:t>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5385816"/>
            <a:ext cx="42976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Verification and security-related attributes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310128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45B46"/>
                </a:solidFill>
                <a:latin typeface="Aptos"/>
              </a:rPr>
              <a:t>DATASET SNAPSHOT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703320"/>
            <a:ext cx="11430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11010"/>
                </a:solidFill>
                <a:latin typeface="Aptos"/>
              </a:rPr>
              <a:t>amount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03720" y="4050791"/>
            <a:ext cx="1143000" cy="0"/>
          </a:xfrm>
          <a:prstGeom prst="line">
            <a:avLst/>
          </a:prstGeom>
          <a:ln w="10160">
            <a:solidFill>
              <a:srgbClr val="AE9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046720" y="3703320"/>
            <a:ext cx="9144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11010"/>
                </a:solidFill>
                <a:latin typeface="Aptos"/>
              </a:rPr>
              <a:t>type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046720" y="4050791"/>
            <a:ext cx="914400" cy="0"/>
          </a:xfrm>
          <a:prstGeom prst="line">
            <a:avLst/>
          </a:prstGeom>
          <a:ln w="10160">
            <a:solidFill>
              <a:srgbClr val="AE9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961120" y="3703320"/>
            <a:ext cx="1325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11010"/>
                </a:solidFill>
                <a:latin typeface="Aptos"/>
              </a:rPr>
              <a:t>merchant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961120" y="4050791"/>
            <a:ext cx="1325880" cy="0"/>
          </a:xfrm>
          <a:prstGeom prst="line">
            <a:avLst/>
          </a:prstGeom>
          <a:ln w="10160">
            <a:solidFill>
              <a:srgbClr val="AE9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287000" y="3703320"/>
            <a:ext cx="9144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11010"/>
                </a:solidFill>
                <a:latin typeface="Aptos"/>
              </a:rPr>
              <a:t>is_fraud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287000" y="4050791"/>
            <a:ext cx="914400" cy="0"/>
          </a:xfrm>
          <a:prstGeom prst="line">
            <a:avLst/>
          </a:prstGeom>
          <a:ln w="10160">
            <a:solidFill>
              <a:srgbClr val="AE9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903720" y="4206240"/>
            <a:ext cx="11430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928"/>
                </a:solidFill>
                <a:latin typeface="Aptos"/>
              </a:rPr>
              <a:t>₹ 2,450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4206240"/>
            <a:ext cx="9144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928"/>
                </a:solidFill>
                <a:latin typeface="Aptos"/>
              </a:rPr>
              <a:t>P2M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206240"/>
            <a:ext cx="1325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928"/>
                </a:solidFill>
                <a:latin typeface="Aptos"/>
              </a:rPr>
              <a:t>Retail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4206240"/>
            <a:ext cx="9144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928"/>
                </a:solidFill>
                <a:latin typeface="Aptos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983480"/>
            <a:ext cx="12801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A45B46"/>
                </a:solidFill>
                <a:latin typeface="Aptos"/>
              </a:rPr>
              <a:t>Target variable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4965192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11010"/>
                </a:solidFill>
                <a:latin typeface="Aptos"/>
              </a:rPr>
              <a:t>is_fraud  →  0 = genuine   |   1 = fraudulent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6199632"/>
            <a:ext cx="9875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46C67"/>
                </a:solidFill>
                <a:latin typeface="Aptos"/>
              </a:rPr>
              <a:t>Dataset figures used in this project: 26,393 rows and 65 columns; 4,545 fraud and 21,848 genuine transactions.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 rot="1200000">
            <a:off x="9601200" y="-502920"/>
            <a:ext cx="3017520" cy="3017520"/>
          </a:xfrm>
          <a:prstGeom prst="arc">
            <a:avLst/>
          </a:prstGeom>
          <a:noFill/>
          <a:ln w="31750">
            <a:solidFill>
              <a:srgbClr val="11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320040" y="635508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D59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0140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7572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5004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746C67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8912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45B46"/>
                </a:solidFill>
                <a:latin typeface="Aptos"/>
              </a:rPr>
              <a:t>04 /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86384"/>
            <a:ext cx="102412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2B2928"/>
                </a:solidFill>
                <a:latin typeface="Aptos Display"/>
              </a:rPr>
              <a:t>Data Preprocessing &amp; Feature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26464"/>
            <a:ext cx="97840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Before a model sees the data, the dataset has to be made usable — and safe.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502920"/>
            <a:ext cx="5486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2200" b="1" i="0">
                <a:solidFill>
                  <a:srgbClr val="111010"/>
                </a:solidFill>
                <a:latin typeface="Aptos Display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48840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45B46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78608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11010"/>
                </a:solidFill>
                <a:latin typeface="Aptos"/>
              </a:rPr>
              <a:t>RAW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999232"/>
            <a:ext cx="18288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Inspect structure
and quality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05456" y="2286000"/>
            <a:ext cx="393192" cy="0"/>
          </a:xfrm>
          <a:prstGeom prst="line">
            <a:avLst/>
          </a:prstGeom>
          <a:ln w="2794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98648" y="2148840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45B46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578608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11010"/>
                </a:solidFill>
                <a:latin typeface="Aptos"/>
              </a:rPr>
              <a:t>CLEAN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2999232"/>
            <a:ext cx="18288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Remove constant /
unusable fields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45736" y="2286000"/>
            <a:ext cx="393192" cy="0"/>
          </a:xfrm>
          <a:prstGeom prst="line">
            <a:avLst/>
          </a:prstGeom>
          <a:ln w="2794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138928" y="2148840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45B46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2578608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11010"/>
                </a:solidFill>
                <a:latin typeface="Aptos"/>
              </a:rPr>
              <a:t>SELECT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2999232"/>
            <a:ext cx="18288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Keep relevant
transaction signals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86016" y="2286000"/>
            <a:ext cx="393192" cy="0"/>
          </a:xfrm>
          <a:prstGeom prst="line">
            <a:avLst/>
          </a:prstGeom>
          <a:ln w="2794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79208" y="2148840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45B46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9208" y="2578608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11010"/>
                </a:solidFill>
                <a:latin typeface="Aptos"/>
              </a:rPr>
              <a:t>ENCODE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9208" y="2999232"/>
            <a:ext cx="18288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Convert categorical
values for ML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26296" y="2286000"/>
            <a:ext cx="393192" cy="0"/>
          </a:xfrm>
          <a:prstGeom prst="line">
            <a:avLst/>
          </a:prstGeom>
          <a:ln w="2794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19488" y="2148840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45B46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9488" y="2578608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11010"/>
                </a:solidFill>
                <a:latin typeface="Aptos"/>
              </a:rPr>
              <a:t>MODEL 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488" y="2999232"/>
            <a:ext cx="18288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Separate X
from target 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9808" y="4251960"/>
            <a:ext cx="10268712" cy="0"/>
          </a:xfrm>
          <a:prstGeom prst="line">
            <a:avLst/>
          </a:prstGeom>
          <a:ln w="12700">
            <a:solidFill>
              <a:srgbClr val="11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9808" y="4553712"/>
            <a:ext cx="3108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45B46"/>
                </a:solidFill>
                <a:latin typeface="Aptos"/>
              </a:rPr>
              <a:t>IMPORTANT DATA-LEAKAGE 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956048"/>
            <a:ext cx="6217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11010"/>
                </a:solidFill>
                <a:latin typeface="Aptos"/>
              </a:rPr>
              <a:t>handle_verification_status was removed from the model inputs.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681728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A45B46"/>
                </a:solidFill>
                <a:latin typeface="Aptos"/>
              </a:rPr>
              <a:t>Why?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663440"/>
            <a:ext cx="338328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B2928"/>
                </a:solidFill>
                <a:latin typeface="Aptos"/>
              </a:rPr>
              <a:t>Because a feature that directly or indirectly reflects the verification outcome can give the model information it would not have at genuine prediction time.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6199632"/>
            <a:ext cx="9875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46C67"/>
                </a:solidFill>
                <a:latin typeface="Aptos"/>
              </a:rPr>
              <a:t>Preprocessing is not just formatting: feature selection also protects the model evaluation from misleading shortcuts.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Arc 2"/>
          <p:cNvSpPr/>
          <p:nvPr/>
        </p:nvSpPr>
        <p:spPr>
          <a:xfrm rot="1200000">
            <a:off x="9601200" y="-502920"/>
            <a:ext cx="3017520" cy="3017520"/>
          </a:xfrm>
          <a:prstGeom prst="arc">
            <a:avLst/>
          </a:prstGeom>
          <a:noFill/>
          <a:ln w="31750">
            <a:solidFill>
              <a:srgbClr val="11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320040" y="635508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D59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0140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7572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5004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746C67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8912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45B46"/>
                </a:solidFill>
                <a:latin typeface="Aptos"/>
              </a:rPr>
              <a:t>05 /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86384"/>
            <a:ext cx="102412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2B2928"/>
                </a:solidFill>
                <a:latin typeface="Aptos Display"/>
              </a:rPr>
              <a:t>Proposed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26464"/>
            <a:ext cx="97840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From a user-entered transaction to a practical risk decision.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502920"/>
            <a:ext cx="5486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2200" b="1" i="0">
                <a:solidFill>
                  <a:srgbClr val="111010"/>
                </a:solidFill>
                <a:latin typeface="Aptos Display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48840"/>
            <a:ext cx="4114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A45B46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14600"/>
            <a:ext cx="1417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11010"/>
                </a:solidFill>
                <a:latin typeface="Aptos"/>
              </a:rPr>
              <a:t>USER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944368"/>
            <a:ext cx="14173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746C67"/>
                </a:solidFill>
                <a:latin typeface="Aptos"/>
              </a:rPr>
              <a:t>Transaction details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83080" y="2724912"/>
            <a:ext cx="393192" cy="0"/>
          </a:xfrm>
          <a:prstGeom prst="line">
            <a:avLst/>
          </a:prstGeom>
          <a:ln w="254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76272" y="2148840"/>
            <a:ext cx="4114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A45B46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9112" y="2514600"/>
            <a:ext cx="1417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11010"/>
                </a:solidFill>
                <a:latin typeface="Aptos"/>
              </a:rPr>
              <a:t>STREAMLIT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9112" y="2944368"/>
            <a:ext cx="14173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746C67"/>
                </a:solidFill>
                <a:latin typeface="Aptos"/>
              </a:rPr>
              <a:t>Web interface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56432" y="2724912"/>
            <a:ext cx="393192" cy="0"/>
          </a:xfrm>
          <a:prstGeom prst="line">
            <a:avLst/>
          </a:prstGeom>
          <a:ln w="254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49624" y="2148840"/>
            <a:ext cx="4114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A45B46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2463" y="2514600"/>
            <a:ext cx="1417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11010"/>
                </a:solidFill>
                <a:latin typeface="Aptos"/>
              </a:rPr>
              <a:t>PREPROCESS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2463" y="2944368"/>
            <a:ext cx="14173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746C67"/>
                </a:solidFill>
                <a:latin typeface="Aptos"/>
              </a:rPr>
              <a:t>Prepare model features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29783" y="2724912"/>
            <a:ext cx="393193" cy="0"/>
          </a:xfrm>
          <a:prstGeom prst="line">
            <a:avLst/>
          </a:prstGeom>
          <a:ln w="254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22976" y="2148840"/>
            <a:ext cx="4114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A45B46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85816" y="2514600"/>
            <a:ext cx="1417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11010"/>
                </a:solidFill>
                <a:latin typeface="Aptos"/>
              </a:rPr>
              <a:t>RANDOM FOREST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85816" y="2944368"/>
            <a:ext cx="14173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746C67"/>
                </a:solidFill>
                <a:latin typeface="Aptos"/>
              </a:rPr>
              <a:t>Classify transaction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03136" y="2724912"/>
            <a:ext cx="393192" cy="0"/>
          </a:xfrm>
          <a:prstGeom prst="line">
            <a:avLst/>
          </a:prstGeom>
          <a:ln w="254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96328" y="2148840"/>
            <a:ext cx="4114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A45B46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2514600"/>
            <a:ext cx="1417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11010"/>
                </a:solidFill>
                <a:latin typeface="Aptos"/>
              </a:rPr>
              <a:t>RISK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2944368"/>
            <a:ext cx="14173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746C67"/>
                </a:solidFill>
                <a:latin typeface="Aptos"/>
              </a:rPr>
              <a:t>Fraud probability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476488" y="2724912"/>
            <a:ext cx="393192" cy="0"/>
          </a:xfrm>
          <a:prstGeom prst="line">
            <a:avLst/>
          </a:prstGeom>
          <a:ln w="254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869680" y="2148840"/>
            <a:ext cx="4114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A45B46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19" y="2514600"/>
            <a:ext cx="1417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11010"/>
                </a:solidFill>
                <a:latin typeface="Aptos"/>
              </a:rPr>
              <a:t>RISK LEVEL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19" y="2944368"/>
            <a:ext cx="14173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746C67"/>
                </a:solidFill>
                <a:latin typeface="Aptos"/>
              </a:rPr>
              <a:t>Low / Medium / High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149840" y="2724912"/>
            <a:ext cx="393192" cy="0"/>
          </a:xfrm>
          <a:prstGeom prst="line">
            <a:avLst/>
          </a:prstGeom>
          <a:ln w="254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43032" y="2148840"/>
            <a:ext cx="4114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A45B46"/>
                </a:solidFill>
                <a:latin typeface="Aptos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5872" y="2514600"/>
            <a:ext cx="1417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11010"/>
                </a:solidFill>
                <a:latin typeface="Aptos"/>
              </a:rPr>
              <a:t>RECOMMENDATION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05872" y="2944368"/>
            <a:ext cx="14173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746C67"/>
                </a:solidFill>
                <a:latin typeface="Aptos"/>
              </a:rPr>
              <a:t>Action for user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365760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A45B46"/>
                </a:solidFill>
                <a:latin typeface="Aptos"/>
              </a:rPr>
              <a:t>10 CUSTOMER-FACING INPUTS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0244" y="4122562"/>
            <a:ext cx="4800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2B2928"/>
                </a:solidFill>
                <a:latin typeface="Aptos"/>
              </a:rPr>
              <a:t>01  Transaction amount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8" y="4142232"/>
            <a:ext cx="4800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2B2928"/>
                </a:solidFill>
                <a:latin typeface="Aptos"/>
              </a:rPr>
              <a:t>02  Transaction type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0244" y="4520114"/>
            <a:ext cx="4800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2B2928"/>
                </a:solidFill>
                <a:latin typeface="Aptos"/>
              </a:rPr>
              <a:t>03  Merchant category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53328" y="4527823"/>
            <a:ext cx="4800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2B2928"/>
                </a:solidFill>
                <a:latin typeface="Aptos"/>
              </a:rPr>
              <a:t>04  Transaction timing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0244" y="4892040"/>
            <a:ext cx="4800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2B2928"/>
                </a:solidFill>
                <a:latin typeface="Aptos"/>
              </a:rPr>
              <a:t>05  Location context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8" y="4878325"/>
            <a:ext cx="4800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2B2928"/>
                </a:solidFill>
                <a:latin typeface="Aptos"/>
              </a:rPr>
              <a:t>06  Device context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5228986"/>
            <a:ext cx="4800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2B2928"/>
                </a:solidFill>
                <a:latin typeface="Aptos"/>
              </a:rPr>
              <a:t>07  Network / connectivity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2297" y="5285232"/>
            <a:ext cx="4800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2B2928"/>
                </a:solidFill>
                <a:latin typeface="Aptos"/>
              </a:rPr>
              <a:t>08  Payment context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5632704"/>
            <a:ext cx="4800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2B2928"/>
                </a:solidFill>
                <a:latin typeface="Aptos"/>
              </a:rPr>
              <a:t>09  User </a:t>
            </a:r>
            <a:r>
              <a:rPr sz="1100" b="0" i="0" dirty="0" err="1">
                <a:solidFill>
                  <a:srgbClr val="2B2928"/>
                </a:solidFill>
                <a:latin typeface="Aptos"/>
              </a:rPr>
              <a:t>behaviour</a:t>
            </a:r>
            <a:r>
              <a:rPr sz="1100" b="0" i="0" dirty="0">
                <a:solidFill>
                  <a:srgbClr val="2B2928"/>
                </a:solidFill>
                <a:latin typeface="Aptos"/>
              </a:rPr>
              <a:t> signal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2297" y="5733288"/>
            <a:ext cx="4800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2B2928"/>
                </a:solidFill>
                <a:latin typeface="Aptos"/>
              </a:rPr>
              <a:t>10  Security / verification signal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6199632"/>
            <a:ext cx="9875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46C67"/>
                </a:solidFill>
                <a:latin typeface="Aptos"/>
              </a:rPr>
              <a:t>The customer-facing layer is intentionally much simpler than the full 65-column training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 rot="1080000">
            <a:off x="9464040" y="-685800"/>
            <a:ext cx="3840480" cy="3840480"/>
          </a:xfrm>
          <a:prstGeom prst="arc">
            <a:avLst/>
          </a:prstGeom>
          <a:noFill/>
          <a:ln w="44450">
            <a:solidFill>
              <a:srgbClr val="D59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617220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A45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746C67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8912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59DA4"/>
                </a:solidFill>
                <a:latin typeface="Aptos"/>
              </a:rPr>
              <a:t>06 /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86384"/>
            <a:ext cx="102412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AF7F0"/>
                </a:solidFill>
                <a:latin typeface="Aptos Display"/>
              </a:rPr>
              <a:t>Random Forest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426464"/>
            <a:ext cx="97840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E968F"/>
                </a:solidFill>
                <a:latin typeface="Aptos"/>
              </a:rPr>
              <a:t>An ensemble of decision trees used for binary fraud classification.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502920"/>
            <a:ext cx="5486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2200" b="1" i="0">
                <a:solidFill>
                  <a:srgbClr val="D59DA4"/>
                </a:solidFill>
                <a:latin typeface="Aptos Display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57400"/>
            <a:ext cx="25603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59DA4"/>
                </a:solidFill>
                <a:latin typeface="Aptos"/>
              </a:rPr>
              <a:t>WHY RANDOM FOREST?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87168"/>
            <a:ext cx="466344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AF7F0"/>
                </a:solidFill>
                <a:latin typeface="Aptos"/>
              </a:defRPr>
            </a:pPr>
            <a:r>
              <a:t>•  Combines multiple decision trees rather than relying on one tree.</a:t>
            </a:r>
          </a:p>
          <a:p>
            <a:pPr>
              <a:spcAft>
                <a:spcPts val="700"/>
              </a:spcAft>
              <a:defRPr sz="1500">
                <a:solidFill>
                  <a:srgbClr val="FAF7F0"/>
                </a:solidFill>
                <a:latin typeface="Aptos"/>
              </a:defRPr>
            </a:pPr>
            <a:r>
              <a:t>•  Works well with mixed feature types after preprocessing.</a:t>
            </a:r>
          </a:p>
          <a:p>
            <a:pPr>
              <a:spcAft>
                <a:spcPts val="700"/>
              </a:spcAft>
              <a:defRPr sz="1500">
                <a:solidFill>
                  <a:srgbClr val="FAF7F0"/>
                </a:solidFill>
                <a:latin typeface="Aptos"/>
              </a:defRPr>
            </a:pPr>
            <a:r>
              <a:t>•  Can provide feature-importance information.</a:t>
            </a:r>
          </a:p>
          <a:p>
            <a:pPr>
              <a:spcAft>
                <a:spcPts val="700"/>
              </a:spcAft>
              <a:defRPr sz="1500">
                <a:solidFill>
                  <a:srgbClr val="FAF7F0"/>
                </a:solidFill>
                <a:latin typeface="Aptos"/>
              </a:defRPr>
            </a:pPr>
            <a:r>
              <a:t>•  Well suited to classification tasks such as fraud / genuine.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95160" y="2606039"/>
            <a:ext cx="0" cy="1828801"/>
          </a:xfrm>
          <a:prstGeom prst="line">
            <a:avLst/>
          </a:prstGeom>
          <a:ln w="1651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656832" y="2926079"/>
            <a:ext cx="338328" cy="320041"/>
          </a:xfrm>
          <a:prstGeom prst="line">
            <a:avLst/>
          </a:prstGeom>
          <a:ln w="127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95160" y="2926079"/>
            <a:ext cx="338328" cy="320041"/>
          </a:xfrm>
          <a:prstGeom prst="line">
            <a:avLst/>
          </a:prstGeom>
          <a:ln w="127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720840" y="3520439"/>
            <a:ext cx="274320" cy="320040"/>
          </a:xfrm>
          <a:prstGeom prst="line">
            <a:avLst/>
          </a:prstGeom>
          <a:ln w="127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95160" y="3520439"/>
            <a:ext cx="274320" cy="320040"/>
          </a:xfrm>
          <a:prstGeom prst="line">
            <a:avLst/>
          </a:prstGeom>
          <a:ln w="127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46719" y="2331720"/>
            <a:ext cx="0" cy="2194560"/>
          </a:xfrm>
          <a:prstGeom prst="line">
            <a:avLst/>
          </a:prstGeom>
          <a:ln w="1651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708392" y="2651760"/>
            <a:ext cx="338327" cy="320040"/>
          </a:xfrm>
          <a:prstGeom prst="line">
            <a:avLst/>
          </a:prstGeom>
          <a:ln w="127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46719" y="2651760"/>
            <a:ext cx="338329" cy="320040"/>
          </a:xfrm>
          <a:prstGeom prst="line">
            <a:avLst/>
          </a:prstGeom>
          <a:ln w="127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772400" y="3246120"/>
            <a:ext cx="274319" cy="320040"/>
          </a:xfrm>
          <a:prstGeom prst="line">
            <a:avLst/>
          </a:prstGeom>
          <a:ln w="127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46719" y="3246120"/>
            <a:ext cx="274321" cy="320040"/>
          </a:xfrm>
          <a:prstGeom prst="line">
            <a:avLst/>
          </a:prstGeom>
          <a:ln w="127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98280" y="2606039"/>
            <a:ext cx="0" cy="1828801"/>
          </a:xfrm>
          <a:prstGeom prst="line">
            <a:avLst/>
          </a:prstGeom>
          <a:ln w="1651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759952" y="2926079"/>
            <a:ext cx="338328" cy="320041"/>
          </a:xfrm>
          <a:prstGeom prst="line">
            <a:avLst/>
          </a:prstGeom>
          <a:ln w="127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98280" y="2926079"/>
            <a:ext cx="338328" cy="320041"/>
          </a:xfrm>
          <a:prstGeom prst="line">
            <a:avLst/>
          </a:prstGeom>
          <a:ln w="127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823960" y="3520439"/>
            <a:ext cx="274320" cy="320040"/>
          </a:xfrm>
          <a:prstGeom prst="line">
            <a:avLst/>
          </a:prstGeom>
          <a:ln w="127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98280" y="3520439"/>
            <a:ext cx="274320" cy="320040"/>
          </a:xfrm>
          <a:prstGeom prst="line">
            <a:avLst/>
          </a:prstGeom>
          <a:ln w="127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149840" y="2331720"/>
            <a:ext cx="0" cy="2194560"/>
          </a:xfrm>
          <a:prstGeom prst="line">
            <a:avLst/>
          </a:prstGeom>
          <a:ln w="1651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811512" y="2651760"/>
            <a:ext cx="338328" cy="320040"/>
          </a:xfrm>
          <a:prstGeom prst="line">
            <a:avLst/>
          </a:prstGeom>
          <a:ln w="127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149840" y="2651760"/>
            <a:ext cx="338328" cy="320040"/>
          </a:xfrm>
          <a:prstGeom prst="line">
            <a:avLst/>
          </a:prstGeom>
          <a:ln w="127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875520" y="3246120"/>
            <a:ext cx="274320" cy="320040"/>
          </a:xfrm>
          <a:prstGeom prst="line">
            <a:avLst/>
          </a:prstGeom>
          <a:ln w="127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149840" y="3246120"/>
            <a:ext cx="274320" cy="320040"/>
          </a:xfrm>
          <a:prstGeom prst="line">
            <a:avLst/>
          </a:prstGeom>
          <a:ln w="1270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0" y="4892040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AE968F"/>
                </a:solidFill>
                <a:latin typeface="Aptos"/>
              </a:rPr>
              <a:t>TREE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4892040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AE968F"/>
                </a:solidFill>
                <a:latin typeface="Aptos"/>
              </a:rPr>
              <a:t>TREE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892040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AE968F"/>
                </a:solidFill>
                <a:latin typeface="Aptos"/>
              </a:rPr>
              <a:t>TREE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4892040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AE968F"/>
                </a:solidFill>
                <a:latin typeface="Aptos"/>
              </a:rPr>
              <a:t>TREE 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46520" y="5285232"/>
            <a:ext cx="4114800" cy="0"/>
          </a:xfrm>
          <a:prstGeom prst="line">
            <a:avLst/>
          </a:prstGeom>
          <a:ln w="15240">
            <a:solidFill>
              <a:srgbClr val="D59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315200" y="5468112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AF7F0"/>
                </a:solidFill>
                <a:latin typeface="Aptos"/>
              </a:rPr>
              <a:t>ENSEMBLE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349240"/>
            <a:ext cx="1051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AE968F"/>
                </a:solidFill>
                <a:latin typeface="Aptos"/>
              </a:rPr>
              <a:t>ACCURACY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596128"/>
            <a:ext cx="1051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D59DA4"/>
                </a:solidFill>
                <a:latin typeface="Aptos"/>
              </a:rP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67128" y="5349240"/>
            <a:ext cx="1051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AE968F"/>
                </a:solidFill>
                <a:latin typeface="Aptos"/>
              </a:rPr>
              <a:t>PRECISION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67128" y="5596128"/>
            <a:ext cx="1051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D59DA4"/>
                </a:solidFill>
                <a:latin typeface="Aptos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4448" y="5349240"/>
            <a:ext cx="1051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AE968F"/>
                </a:solidFill>
                <a:latin typeface="Aptos"/>
              </a:rPr>
              <a:t>RECALL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84448" y="5596128"/>
            <a:ext cx="1051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D59DA4"/>
                </a:solidFill>
                <a:latin typeface="Aptos"/>
              </a:rPr>
              <a:t>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01768" y="5349240"/>
            <a:ext cx="1051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AE968F"/>
                </a:solidFill>
                <a:latin typeface="Aptos"/>
              </a:rPr>
              <a:t>F1-SCORE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01768" y="5596128"/>
            <a:ext cx="1051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D59DA4"/>
                </a:solidFill>
                <a:latin typeface="Aptos"/>
              </a:rPr>
              <a:t>100%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6199632"/>
            <a:ext cx="9875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AE968F"/>
                </a:solidFill>
                <a:latin typeface="Aptos"/>
              </a:rPr>
              <a:t>Interpretation: the reported test results were unusually perfect. This was treated as a dataset-specific signal, not proof of a perfect real-world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 rot="1200000">
            <a:off x="9601200" y="-502920"/>
            <a:ext cx="3017520" cy="3017520"/>
          </a:xfrm>
          <a:prstGeom prst="arc">
            <a:avLst/>
          </a:prstGeom>
          <a:noFill/>
          <a:ln w="31750">
            <a:solidFill>
              <a:srgbClr val="11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320040" y="635508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D59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0140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7572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5004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746C67"/>
                </a:solidFill>
                <a:latin typeface="Apto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8912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45B46"/>
                </a:solidFill>
                <a:latin typeface="Aptos"/>
              </a:rPr>
              <a:t>07 /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86384"/>
            <a:ext cx="102412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2B2928"/>
                </a:solidFill>
                <a:latin typeface="Aptos Display"/>
              </a:rPr>
              <a:t>Web Application &amp;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26464"/>
            <a:ext cx="97840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A Streamlit dashboard turns the model into something a user can actually interact with.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502920"/>
            <a:ext cx="5486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2200" b="1" i="0">
                <a:solidFill>
                  <a:srgbClr val="111010"/>
                </a:solidFill>
                <a:latin typeface="Aptos Display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304288"/>
            <a:ext cx="40233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 dirty="0">
                <a:solidFill>
                  <a:srgbClr val="A45B46"/>
                </a:solidFill>
                <a:latin typeface="Aptos"/>
              </a:rPr>
              <a:t>UPI FRAUD DETECTION  /  STREAMLIT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92608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 dirty="0">
                <a:solidFill>
                  <a:srgbClr val="111010"/>
                </a:solidFill>
                <a:latin typeface="Aptos Display"/>
              </a:rPr>
              <a:t>Transaction Risk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05740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45B46"/>
                </a:solidFill>
                <a:latin typeface="Aptos"/>
              </a:rP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514600"/>
            <a:ext cx="31089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746C67"/>
                </a:solidFill>
                <a:latin typeface="Aptos"/>
              </a:rPr>
              <a:t>Fraud Risk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2971800"/>
            <a:ext cx="18288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B4544E"/>
                </a:solidFill>
                <a:latin typeface="Aptos Display"/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703320"/>
            <a:ext cx="22860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746C67"/>
                </a:solidFill>
                <a:latin typeface="Aptos"/>
              </a:rPr>
              <a:t>Risk classification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3977639"/>
            <a:ext cx="22860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11010"/>
                </a:solidFill>
                <a:latin typeface="Aptos"/>
              </a:rPr>
              <a:t>High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617720"/>
            <a:ext cx="2011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746C67"/>
                </a:solidFill>
                <a:latin typeface="Aptos"/>
              </a:rPr>
              <a:t>Recommendation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919472"/>
            <a:ext cx="29260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11010"/>
                </a:solidFill>
                <a:latin typeface="Aptos"/>
              </a:rPr>
              <a:t>Review transaction
before proceeding.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6199632"/>
            <a:ext cx="9875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46C67"/>
                </a:solidFill>
                <a:latin typeface="Aptos"/>
              </a:rPr>
              <a:t>The dashboard is designed to communicate the model output in human terms: score → risk level → recommendation.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BA14AB8-CB8B-56F7-B708-91F3BDE65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15" y="1768951"/>
            <a:ext cx="5340624" cy="108590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B137F66-A28A-EEC7-FFA0-AA47152BE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16" y="2918446"/>
            <a:ext cx="4427128" cy="123233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28AA421-8CDC-D978-B732-7F4FE32CC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275" y="3323382"/>
            <a:ext cx="3867900" cy="140863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E69E5E5-E0D5-5A3B-F9E7-B51CC546EE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516" y="4150797"/>
            <a:ext cx="3316727" cy="204026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09F45E7-5AD6-4E99-0FCB-2DEA7EB5F5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002" y="4499777"/>
            <a:ext cx="5071156" cy="15855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 rot="1200000">
            <a:off x="9601200" y="-502920"/>
            <a:ext cx="3017520" cy="3017520"/>
          </a:xfrm>
          <a:prstGeom prst="arc">
            <a:avLst/>
          </a:prstGeom>
          <a:noFill/>
          <a:ln w="31750">
            <a:solidFill>
              <a:srgbClr val="11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320040" y="635508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D59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0140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7572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50040" y="5440680"/>
            <a:ext cx="73152" cy="73152"/>
          </a:xfrm>
          <a:prstGeom prst="ellipse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746C67"/>
                </a:solidFill>
                <a:latin typeface="Apto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8912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45B46"/>
                </a:solidFill>
                <a:latin typeface="Aptos"/>
              </a:rPr>
              <a:t>08 /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86384"/>
            <a:ext cx="102412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2B2928"/>
                </a:solidFill>
                <a:latin typeface="Aptos Display"/>
              </a:rPr>
              <a:t>Advantages · Limitations · 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502920"/>
            <a:ext cx="5486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2200" b="1" i="0">
                <a:solidFill>
                  <a:srgbClr val="111010"/>
                </a:solidFill>
                <a:latin typeface="Aptos Display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A45B46"/>
                </a:solidFill>
                <a:latin typeface="Aptos"/>
              </a:rPr>
              <a:t>ADVANTAGES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423160"/>
            <a:ext cx="3063239" cy="0"/>
          </a:xfrm>
          <a:prstGeom prst="line">
            <a:avLst/>
          </a:prstGeom>
          <a:ln w="11430">
            <a:solidFill>
              <a:srgbClr val="11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697480"/>
            <a:ext cx="29718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B2928"/>
                </a:solidFill>
                <a:latin typeface="Aptos"/>
              </a:defRPr>
            </a:pPr>
            <a:r>
              <a:t>•  Easy-to-use web interface</a:t>
            </a:r>
          </a:p>
          <a:p>
            <a:pPr>
              <a:spcAft>
                <a:spcPts val="1000"/>
              </a:spcAft>
              <a:defRPr sz="1300">
                <a:solidFill>
                  <a:srgbClr val="2B2928"/>
                </a:solidFill>
                <a:latin typeface="Aptos"/>
              </a:defRPr>
            </a:pPr>
            <a:r>
              <a:t>•  Automated fraud risk assessment</a:t>
            </a:r>
          </a:p>
          <a:p>
            <a:pPr>
              <a:spcAft>
                <a:spcPts val="1000"/>
              </a:spcAft>
              <a:defRPr sz="1300">
                <a:solidFill>
                  <a:srgbClr val="2B2928"/>
                </a:solidFill>
                <a:latin typeface="Aptos"/>
              </a:defRPr>
            </a:pPr>
            <a:r>
              <a:t>•  Fast prediction</a:t>
            </a:r>
          </a:p>
          <a:p>
            <a:pPr>
              <a:spcAft>
                <a:spcPts val="1000"/>
              </a:spcAft>
              <a:defRPr sz="1300">
                <a:solidFill>
                  <a:srgbClr val="2B2928"/>
                </a:solidFill>
                <a:latin typeface="Aptos"/>
              </a:defRPr>
            </a:pPr>
            <a:r>
              <a:t>•  Risk score is intuitive</a:t>
            </a:r>
          </a:p>
          <a:p>
            <a:pPr>
              <a:spcAft>
                <a:spcPts val="1000"/>
              </a:spcAft>
              <a:defRPr sz="1300">
                <a:solidFill>
                  <a:srgbClr val="2B2928"/>
                </a:solidFill>
                <a:latin typeface="Aptos"/>
              </a:defRPr>
            </a:pPr>
            <a:r>
              <a:t>•  Machine-learning based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965960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11010"/>
                </a:solidFill>
                <a:latin typeface="Aptos"/>
              </a:rPr>
              <a:t>LIMITATIONS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60520" y="2423160"/>
            <a:ext cx="3063240" cy="0"/>
          </a:xfrm>
          <a:prstGeom prst="line">
            <a:avLst/>
          </a:prstGeom>
          <a:ln w="11430">
            <a:solidFill>
              <a:srgbClr val="11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60520" y="2697480"/>
            <a:ext cx="29718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B2928"/>
                </a:solidFill>
                <a:latin typeface="Aptos"/>
              </a:defRPr>
            </a:pPr>
            <a:r>
              <a:t>•  Dataset may not represent all real-world UPI fraud</a:t>
            </a:r>
          </a:p>
          <a:p>
            <a:pPr>
              <a:spcAft>
                <a:spcPts val="1000"/>
              </a:spcAft>
              <a:defRPr sz="1300">
                <a:solidFill>
                  <a:srgbClr val="2B2928"/>
                </a:solidFill>
                <a:latin typeface="Aptos"/>
              </a:defRPr>
            </a:pPr>
            <a:r>
              <a:t>•  Performance depends on data quality</a:t>
            </a:r>
          </a:p>
          <a:p>
            <a:pPr>
              <a:spcAft>
                <a:spcPts val="1000"/>
              </a:spcAft>
              <a:defRPr sz="1300">
                <a:solidFill>
                  <a:srgbClr val="2B2928"/>
                </a:solidFill>
                <a:latin typeface="Aptos"/>
              </a:defRPr>
            </a:pPr>
            <a:r>
              <a:t>•  Some training features are not customer-visible</a:t>
            </a:r>
          </a:p>
          <a:p>
            <a:pPr>
              <a:spcAft>
                <a:spcPts val="1000"/>
              </a:spcAft>
              <a:defRPr sz="1300">
                <a:solidFill>
                  <a:srgbClr val="2B2928"/>
                </a:solidFill>
                <a:latin typeface="Aptos"/>
              </a:defRPr>
            </a:pPr>
            <a:r>
              <a:t>•  Perfect test scores suggest dataset-specific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965960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A45B46"/>
                </a:solidFill>
                <a:latin typeface="Aptos"/>
              </a:rPr>
              <a:t>FUTURE SCOPE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35240" y="2423160"/>
            <a:ext cx="3063240" cy="0"/>
          </a:xfrm>
          <a:prstGeom prst="line">
            <a:avLst/>
          </a:prstGeom>
          <a:ln w="11430">
            <a:solidFill>
              <a:srgbClr val="11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35240" y="2697480"/>
            <a:ext cx="29718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B2928"/>
                </a:solidFill>
                <a:latin typeface="Aptos"/>
              </a:defRPr>
            </a:pPr>
            <a:r>
              <a:t>•  Real-time transaction monitoring</a:t>
            </a:r>
          </a:p>
          <a:p>
            <a:pPr>
              <a:spcAft>
                <a:spcPts val="1000"/>
              </a:spcAft>
              <a:defRPr sz="1300">
                <a:solidFill>
                  <a:srgbClr val="2B2928"/>
                </a:solidFill>
                <a:latin typeface="Aptos"/>
              </a:defRPr>
            </a:pPr>
            <a:r>
              <a:t>•  Larger and more diverse datasets</a:t>
            </a:r>
          </a:p>
          <a:p>
            <a:pPr>
              <a:spcAft>
                <a:spcPts val="1000"/>
              </a:spcAft>
              <a:defRPr sz="1300">
                <a:solidFill>
                  <a:srgbClr val="2B2928"/>
                </a:solidFill>
                <a:latin typeface="Aptos"/>
              </a:defRPr>
            </a:pPr>
            <a:r>
              <a:t>•  Continuous model retraining</a:t>
            </a:r>
          </a:p>
          <a:p>
            <a:pPr>
              <a:spcAft>
                <a:spcPts val="1000"/>
              </a:spcAft>
              <a:defRPr sz="1300">
                <a:solidFill>
                  <a:srgbClr val="2B2928"/>
                </a:solidFill>
                <a:latin typeface="Aptos"/>
              </a:defRPr>
            </a:pPr>
            <a:r>
              <a:t>•  Integration with payment platforms</a:t>
            </a:r>
          </a:p>
          <a:p>
            <a:pPr>
              <a:spcAft>
                <a:spcPts val="1000"/>
              </a:spcAft>
              <a:defRPr sz="1300">
                <a:solidFill>
                  <a:srgbClr val="2B2928"/>
                </a:solidFill>
                <a:latin typeface="Aptos"/>
              </a:defRPr>
            </a:pPr>
            <a:r>
              <a:t>•  Explainable AI for each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623560"/>
            <a:ext cx="103327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11010"/>
                </a:solidFill>
                <a:latin typeface="Aptos Display"/>
              </a:rPr>
              <a:t>The strongest next step is not “more complexity” — it is better data, realistic evaluation and explainable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199632"/>
            <a:ext cx="9875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46C67"/>
                </a:solidFill>
                <a:latin typeface="Aptos"/>
              </a:rPr>
              <a:t>A responsible fraud-detection system must be evaluated against realistic, leakage-free data before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 rot="1080000">
            <a:off x="9464040" y="-685800"/>
            <a:ext cx="3840480" cy="3840480"/>
          </a:xfrm>
          <a:prstGeom prst="arc">
            <a:avLst/>
          </a:prstGeom>
          <a:noFill/>
          <a:ln w="44450">
            <a:solidFill>
              <a:srgbClr val="D59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617220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A45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746C67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59DA4"/>
                </a:solidFill>
                <a:latin typeface="Aptos"/>
              </a:rPr>
              <a:t>END /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475488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5500" b="1" i="0">
                <a:solidFill>
                  <a:srgbClr val="FAF7F0"/>
                </a:solidFill>
                <a:latin typeface="Aptos Display"/>
              </a:rPr>
              <a:t>THANK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04288"/>
            <a:ext cx="438912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5500" b="1" i="0">
                <a:solidFill>
                  <a:srgbClr val="FAF7F0"/>
                </a:solidFill>
                <a:latin typeface="Aptos Display"/>
              </a:rPr>
              <a:t>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290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AE968F"/>
                </a:solidFill>
                <a:latin typeface="Aptos"/>
              </a:rPr>
              <a:t>UPI Fraud Detection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80360"/>
            <a:ext cx="42976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AF7F0"/>
                </a:solidFill>
                <a:latin typeface="Aptos"/>
              </a:rPr>
              <a:t>TRANSACTION  →  MODEL  →  RISK  → 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7033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759A70"/>
                </a:solidFill>
                <a:latin typeface="Aptos"/>
              </a:rPr>
              <a:t>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703320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DEB759"/>
                </a:solidFill>
                <a:latin typeface="Aptos"/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7033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B4544E"/>
                </a:solidFill>
                <a:latin typeface="Aptos"/>
              </a:rPr>
              <a:t>HIGH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971</Words>
  <Application>Microsoft Office PowerPoint</Application>
  <PresentationFormat>Widescreen</PresentationFormat>
  <Paragraphs>221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8 Annika</cp:lastModifiedBy>
  <cp:revision>3</cp:revision>
  <dcterms:created xsi:type="dcterms:W3CDTF">2013-01-27T09:14:16Z</dcterms:created>
  <dcterms:modified xsi:type="dcterms:W3CDTF">2026-10-06T04:32:39Z</dcterms:modified>
  <cp:category/>
</cp:coreProperties>
</file>